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DM Sans Light" pitchFamily="2" charset="0"/>
      <p:regular r:id="rId15"/>
      <p:italic r:id="rId16"/>
    </p:embeddedFont>
    <p:embeddedFont>
      <p:font typeface="DM Sans Medium" pitchFamily="2" charset="0"/>
      <p:regular r:id="rId17"/>
      <p:italic r:id="rId18"/>
    </p:embeddedFont>
    <p:embeddedFont>
      <p:font typeface="Inter" panose="02000503000000020004" pitchFamily="2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51B0CE-8AEE-4BD7-B797-25FA2B52228B}" v="11" dt="2026-04-09T13:20:25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807" autoAdjust="0"/>
  </p:normalViewPr>
  <p:slideViewPr>
    <p:cSldViewPr snapToGrid="0" snapToObjects="1">
      <p:cViewPr varScale="1">
        <p:scale>
          <a:sx n="53" d="100"/>
          <a:sy n="53" d="100"/>
        </p:scale>
        <p:origin x="14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uv Manishbhai Thumar" userId="0a286051-3e7d-4cc9-8937-d5876c3687ef" providerId="ADAL" clId="{722274AF-CF55-4401-BBC3-447E88A9F583}"/>
    <pc:docChg chg="undo custSel modSld">
      <pc:chgData name="Dhruv Manishbhai Thumar" userId="0a286051-3e7d-4cc9-8937-d5876c3687ef" providerId="ADAL" clId="{722274AF-CF55-4401-BBC3-447E88A9F583}" dt="2026-04-09T13:52:36.903" v="210" actId="1035"/>
      <pc:docMkLst>
        <pc:docMk/>
      </pc:docMkLst>
      <pc:sldChg chg="addSp delSp modSp mod modNotesTx">
        <pc:chgData name="Dhruv Manishbhai Thumar" userId="0a286051-3e7d-4cc9-8937-d5876c3687ef" providerId="ADAL" clId="{722274AF-CF55-4401-BBC3-447E88A9F583}" dt="2026-04-09T13:27:16.674" v="200" actId="20577"/>
        <pc:sldMkLst>
          <pc:docMk/>
          <pc:sldMk cId="0" sldId="256"/>
        </pc:sldMkLst>
        <pc:spChg chg="mod">
          <ac:chgData name="Dhruv Manishbhai Thumar" userId="0a286051-3e7d-4cc9-8937-d5876c3687ef" providerId="ADAL" clId="{722274AF-CF55-4401-BBC3-447E88A9F583}" dt="2026-04-09T01:48:55.068" v="43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Dhruv Manishbhai Thumar" userId="0a286051-3e7d-4cc9-8937-d5876c3687ef" providerId="ADAL" clId="{722274AF-CF55-4401-BBC3-447E88A9F583}" dt="2026-04-09T13:27:16.674" v="200" actId="20577"/>
          <ac:spMkLst>
            <pc:docMk/>
            <pc:sldMk cId="0" sldId="256"/>
            <ac:spMk id="6" creationId="{00000000-0000-0000-0000-000000000000}"/>
          </ac:spMkLst>
        </pc:spChg>
        <pc:spChg chg="add del mod">
          <ac:chgData name="Dhruv Manishbhai Thumar" userId="0a286051-3e7d-4cc9-8937-d5876c3687ef" providerId="ADAL" clId="{722274AF-CF55-4401-BBC3-447E88A9F583}" dt="2026-04-09T01:47:36.645" v="2" actId="478"/>
          <ac:spMkLst>
            <pc:docMk/>
            <pc:sldMk cId="0" sldId="256"/>
            <ac:spMk id="7" creationId="{52EE3EDB-4172-C306-D0B6-26363A6BF890}"/>
          </ac:spMkLst>
        </pc:spChg>
        <pc:spChg chg="add mod">
          <ac:chgData name="Dhruv Manishbhai Thumar" userId="0a286051-3e7d-4cc9-8937-d5876c3687ef" providerId="ADAL" clId="{722274AF-CF55-4401-BBC3-447E88A9F583}" dt="2026-04-09T01:47:49.312" v="5" actId="2085"/>
          <ac:spMkLst>
            <pc:docMk/>
            <pc:sldMk cId="0" sldId="256"/>
            <ac:spMk id="8" creationId="{FEDB0778-A23A-3092-9464-4532F6198493}"/>
          </ac:spMkLst>
        </pc:spChg>
      </pc:sldChg>
      <pc:sldChg chg="addSp modSp modNotesTx">
        <pc:chgData name="Dhruv Manishbhai Thumar" userId="0a286051-3e7d-4cc9-8937-d5876c3687ef" providerId="ADAL" clId="{722274AF-CF55-4401-BBC3-447E88A9F583}" dt="2026-04-09T13:22:49.864" v="158" actId="20577"/>
        <pc:sldMkLst>
          <pc:docMk/>
          <pc:sldMk cId="0" sldId="257"/>
        </pc:sldMkLst>
        <pc:spChg chg="add mod">
          <ac:chgData name="Dhruv Manishbhai Thumar" userId="0a286051-3e7d-4cc9-8937-d5876c3687ef" providerId="ADAL" clId="{722274AF-CF55-4401-BBC3-447E88A9F583}" dt="2026-04-09T01:47:52.448" v="6"/>
          <ac:spMkLst>
            <pc:docMk/>
            <pc:sldMk cId="0" sldId="257"/>
            <ac:spMk id="16" creationId="{D7D5C804-C1FB-DBF7-90F2-0DB6DF685B6B}"/>
          </ac:spMkLst>
        </pc:spChg>
      </pc:sldChg>
      <pc:sldChg chg="addSp modSp mod">
        <pc:chgData name="Dhruv Manishbhai Thumar" userId="0a286051-3e7d-4cc9-8937-d5876c3687ef" providerId="ADAL" clId="{722274AF-CF55-4401-BBC3-447E88A9F583}" dt="2026-04-09T13:52:36.903" v="210" actId="1035"/>
        <pc:sldMkLst>
          <pc:docMk/>
          <pc:sldMk cId="0" sldId="258"/>
        </pc:sldMkLst>
        <pc:spChg chg="mod">
          <ac:chgData name="Dhruv Manishbhai Thumar" userId="0a286051-3e7d-4cc9-8937-d5876c3687ef" providerId="ADAL" clId="{722274AF-CF55-4401-BBC3-447E88A9F583}" dt="2026-04-09T13:52:20.909" v="207" actId="20577"/>
          <ac:spMkLst>
            <pc:docMk/>
            <pc:sldMk cId="0" sldId="258"/>
            <ac:spMk id="10" creationId="{00000000-0000-0000-0000-000000000000}"/>
          </ac:spMkLst>
        </pc:spChg>
        <pc:spChg chg="add mod">
          <ac:chgData name="Dhruv Manishbhai Thumar" userId="0a286051-3e7d-4cc9-8937-d5876c3687ef" providerId="ADAL" clId="{722274AF-CF55-4401-BBC3-447E88A9F583}" dt="2026-04-09T01:47:53.481" v="7"/>
          <ac:spMkLst>
            <pc:docMk/>
            <pc:sldMk cId="0" sldId="258"/>
            <ac:spMk id="24" creationId="{70920A9A-A6A1-12CB-D191-A5CC1FCC763B}"/>
          </ac:spMkLst>
        </pc:spChg>
        <pc:picChg chg="mod">
          <ac:chgData name="Dhruv Manishbhai Thumar" userId="0a286051-3e7d-4cc9-8937-d5876c3687ef" providerId="ADAL" clId="{722274AF-CF55-4401-BBC3-447E88A9F583}" dt="2026-04-09T13:52:36.903" v="210" actId="1035"/>
          <ac:picMkLst>
            <pc:docMk/>
            <pc:sldMk cId="0" sldId="258"/>
            <ac:picMk id="11" creationId="{00000000-0000-0000-0000-000000000000}"/>
          </ac:picMkLst>
        </pc:picChg>
      </pc:sldChg>
      <pc:sldChg chg="addSp modSp mod">
        <pc:chgData name="Dhruv Manishbhai Thumar" userId="0a286051-3e7d-4cc9-8937-d5876c3687ef" providerId="ADAL" clId="{722274AF-CF55-4401-BBC3-447E88A9F583}" dt="2026-04-09T01:48:17.415" v="18" actId="171"/>
        <pc:sldMkLst>
          <pc:docMk/>
          <pc:sldMk cId="0" sldId="259"/>
        </pc:sldMkLst>
        <pc:spChg chg="add mod ord">
          <ac:chgData name="Dhruv Manishbhai Thumar" userId="0a286051-3e7d-4cc9-8937-d5876c3687ef" providerId="ADAL" clId="{722274AF-CF55-4401-BBC3-447E88A9F583}" dt="2026-04-09T01:48:17.415" v="18" actId="171"/>
          <ac:spMkLst>
            <pc:docMk/>
            <pc:sldMk cId="0" sldId="259"/>
            <ac:spMk id="30" creationId="{DB6000E8-8D5A-2600-F1B8-84EB3E328A84}"/>
          </ac:spMkLst>
        </pc:spChg>
      </pc:sldChg>
      <pc:sldChg chg="addSp modSp modNotesTx">
        <pc:chgData name="Dhruv Manishbhai Thumar" userId="0a286051-3e7d-4cc9-8937-d5876c3687ef" providerId="ADAL" clId="{722274AF-CF55-4401-BBC3-447E88A9F583}" dt="2026-04-09T13:47:15.163" v="205" actId="20577"/>
        <pc:sldMkLst>
          <pc:docMk/>
          <pc:sldMk cId="0" sldId="260"/>
        </pc:sldMkLst>
        <pc:spChg chg="add mod">
          <ac:chgData name="Dhruv Manishbhai Thumar" userId="0a286051-3e7d-4cc9-8937-d5876c3687ef" providerId="ADAL" clId="{722274AF-CF55-4401-BBC3-447E88A9F583}" dt="2026-04-09T01:47:55.547" v="8"/>
          <ac:spMkLst>
            <pc:docMk/>
            <pc:sldMk cId="0" sldId="260"/>
            <ac:spMk id="36" creationId="{3B72C2E8-91BE-89A5-A256-C70707F71A5F}"/>
          </ac:spMkLst>
        </pc:spChg>
      </pc:sldChg>
      <pc:sldChg chg="addSp modSp">
        <pc:chgData name="Dhruv Manishbhai Thumar" userId="0a286051-3e7d-4cc9-8937-d5876c3687ef" providerId="ADAL" clId="{722274AF-CF55-4401-BBC3-447E88A9F583}" dt="2026-04-09T01:47:56.384" v="9"/>
        <pc:sldMkLst>
          <pc:docMk/>
          <pc:sldMk cId="0" sldId="261"/>
        </pc:sldMkLst>
        <pc:spChg chg="add mod">
          <ac:chgData name="Dhruv Manishbhai Thumar" userId="0a286051-3e7d-4cc9-8937-d5876c3687ef" providerId="ADAL" clId="{722274AF-CF55-4401-BBC3-447E88A9F583}" dt="2026-04-09T01:47:56.384" v="9"/>
          <ac:spMkLst>
            <pc:docMk/>
            <pc:sldMk cId="0" sldId="261"/>
            <ac:spMk id="6" creationId="{6F7D7077-2720-881F-B696-117F6DCC0FC2}"/>
          </ac:spMkLst>
        </pc:spChg>
      </pc:sldChg>
      <pc:sldChg chg="addSp modSp modNotesTx">
        <pc:chgData name="Dhruv Manishbhai Thumar" userId="0a286051-3e7d-4cc9-8937-d5876c3687ef" providerId="ADAL" clId="{722274AF-CF55-4401-BBC3-447E88A9F583}" dt="2026-04-09T13:26:33.731" v="179" actId="20577"/>
        <pc:sldMkLst>
          <pc:docMk/>
          <pc:sldMk cId="0" sldId="262"/>
        </pc:sldMkLst>
        <pc:spChg chg="add mod">
          <ac:chgData name="Dhruv Manishbhai Thumar" userId="0a286051-3e7d-4cc9-8937-d5876c3687ef" providerId="ADAL" clId="{722274AF-CF55-4401-BBC3-447E88A9F583}" dt="2026-04-09T01:47:57.224" v="10"/>
          <ac:spMkLst>
            <pc:docMk/>
            <pc:sldMk cId="0" sldId="262"/>
            <ac:spMk id="12" creationId="{14ED949B-FA35-6679-012F-7ED91C7CB536}"/>
          </ac:spMkLst>
        </pc:spChg>
      </pc:sldChg>
      <pc:sldChg chg="addSp modSp mod modNotesTx">
        <pc:chgData name="Dhruv Manishbhai Thumar" userId="0a286051-3e7d-4cc9-8937-d5876c3687ef" providerId="ADAL" clId="{722274AF-CF55-4401-BBC3-447E88A9F583}" dt="2026-04-09T13:20:50.526" v="131" actId="20577"/>
        <pc:sldMkLst>
          <pc:docMk/>
          <pc:sldMk cId="0" sldId="263"/>
        </pc:sldMkLst>
        <pc:spChg chg="add mod">
          <ac:chgData name="Dhruv Manishbhai Thumar" userId="0a286051-3e7d-4cc9-8937-d5876c3687ef" providerId="ADAL" clId="{722274AF-CF55-4401-BBC3-447E88A9F583}" dt="2026-04-09T01:48:03.655" v="12"/>
          <ac:spMkLst>
            <pc:docMk/>
            <pc:sldMk cId="0" sldId="263"/>
            <ac:spMk id="2" creationId="{08826B6F-DD51-DCE9-375A-2509B65F5536}"/>
          </ac:spMkLst>
        </pc:spChg>
        <pc:picChg chg="mod ord">
          <ac:chgData name="Dhruv Manishbhai Thumar" userId="0a286051-3e7d-4cc9-8937-d5876c3687ef" providerId="ADAL" clId="{722274AF-CF55-4401-BBC3-447E88A9F583}" dt="2026-04-09T01:48:09.050" v="15" actId="170"/>
          <ac:picMkLst>
            <pc:docMk/>
            <pc:sldMk cId="0" sldId="263"/>
            <ac:picMk id="16" creationId="{71704962-8DAC-A1A3-8E4B-901FD9D0A6D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084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"Good day everyone. I'm presenting a data mining project that is about customer segmentation with predictive modeling to solve a real business problem: customer churn. This project goes beyond basic RFM analysis to include machine learning for actionable insights .E</a:t>
            </a:r>
            <a:r>
              <a:rPr lang="en-US" dirty="0"/>
              <a:t>very customer has a story told through their data; today, I’ll show you how we used RFM analysis and machine learning to decode those stories and protect our most valuable retail relationships using pro-active not reactive strategy.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started with customer purchase data, calculated RFM metrics for each customer, then used K-Means clustering to find 4 distinct segments. Then built a machine learning model that predicts churn- This lets us focus on retention efforts where they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technical work involved thorough data exploration to understand the patterns, then rigorous cleaning to ensure quality. I faced challenges like duplicate segment names and model leakage, but solved them through careful feature engineering and validation. This foundation enabled the predictive modeling that drives the business insights."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compared three machine learning models to find the best churn predictor. The default Random Forest was decent but the tuned version performed significantly better.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was competitive but the tuned Random Forest had the highest recall - meaning it was best at identifying customers who would actually churn. This is critical for retention because we'd rather catch more potential churners than miss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identified 4 segments each with very different characteristics. The At-Risk segment needs immediate intervention - they’re maybe high-value customers who haven't engaged in months. Elite and Champions represent our bread and butter - 38% of customers but much higher value. Promising customers are newer - we need to convert them into repeat buyers.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model is 70% effective at identifying who will churn, which means if we focus  retention efforts on flagged high-risk customers, we'll catch most of them before they leave." "We achieved 70% recall with our tuned Random Forest, which is the optimal balance. We catch most churners without wasting resources on false positives. Going to 100% recall would require flagging almost everyone as at-risk, making the model useless for practical business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beauty of this analysis is it gives me exactly who to target and why. I’m not mass-marketing to everyone – I’m being surgical about where to spend retention dollars. The At-Risk segment alone has 386 customers. If we can retain just 30% of them instead of losing all 100%, that significantly improves our bottom line compared to acquisition costs.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this project, Data mining isn't just about finding patterns; it's about ensuring that every marketing dollar is an investment in a customer who wants to stay.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363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Customer Segmentation &amp; Churn Prediction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940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Retail Analytics for Customer Retention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71570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 Project for</a:t>
            </a:r>
          </a:p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CS4403 - Data Mining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68141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Dhruv Thumar #3753860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DB0778-A23A-3092-9464-4532F6198493}"/>
              </a:ext>
            </a:extLst>
          </p:cNvPr>
          <p:cNvSpPr/>
          <p:nvPr/>
        </p:nvSpPr>
        <p:spPr>
          <a:xfrm>
            <a:off x="12848492" y="7690338"/>
            <a:ext cx="1781908" cy="539262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2996" y="526375"/>
            <a:ext cx="5306735" cy="56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Problem &amp; Approach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112996" y="1444228"/>
            <a:ext cx="2247186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Challenge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112996" y="1867376"/>
            <a:ext cx="598289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3,863 retail customers with </a:t>
            </a:r>
            <a:r>
              <a:rPr lang="en-US" sz="14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43.3% churn rate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unable to predict departures before they happen. Marketing dollars wasted on uniform strategies without targeting.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82554" y="2800945"/>
            <a:ext cx="571333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 we retain our best customers?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12996" y="2800945"/>
            <a:ext cx="22860" cy="25777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542133" y="1444228"/>
            <a:ext cx="2247186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Solution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2133" y="1867376"/>
            <a:ext cx="5982891" cy="1130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 customers using </a:t>
            </a:r>
            <a:r>
              <a:rPr lang="en-US" sz="14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RFM analysis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(Recency, Frequency, Monetary Value)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predictive model for churn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</a:t>
            </a:r>
            <a:r>
              <a:rPr lang="en-US" sz="14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retention strategies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each segment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483" y="3379232"/>
            <a:ext cx="7285434" cy="4323993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5847" y="4436087"/>
            <a:ext cx="620212" cy="6202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43277" y="6700250"/>
            <a:ext cx="1811019" cy="348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Action</a:t>
            </a:r>
            <a:endParaRPr lang="en-US" sz="2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5288" y="4437251"/>
            <a:ext cx="620212" cy="6202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60895" y="6700250"/>
            <a:ext cx="1811020" cy="348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Analysis</a:t>
            </a:r>
            <a:endParaRPr lang="en-US" sz="2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2907" y="4437251"/>
            <a:ext cx="620212" cy="6202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41301" y="6700250"/>
            <a:ext cx="1811020" cy="348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</a:t>
            </a:r>
            <a:endParaRPr lang="en-US" sz="21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D5C804-C1FB-DBF7-90F2-0DB6DF685B6B}"/>
              </a:ext>
            </a:extLst>
          </p:cNvPr>
          <p:cNvSpPr/>
          <p:nvPr/>
        </p:nvSpPr>
        <p:spPr>
          <a:xfrm>
            <a:off x="12848492" y="7690338"/>
            <a:ext cx="1781908" cy="539262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5293" y="447794"/>
            <a:ext cx="5296376" cy="420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Technical Approach &amp; Challenges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5876" y="1022033"/>
            <a:ext cx="2415248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Dataset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5876" y="1351836"/>
            <a:ext cx="133326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Retail Dataset from UCI Machine Learning Repository (also available on Kaggle). Contains 541,909 transaction records from a UK-based online retailer, covering transactions from 01/12/2010 to 09/12/2011.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23304" y="1799729"/>
            <a:ext cx="2508377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Implementation Steps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23305" y="2265839"/>
            <a:ext cx="6410389" cy="1455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EDA: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Explored distributions, identified outliers, visualized RFM patterns</a:t>
            </a:r>
            <a:endParaRPr lang="en-US" sz="1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Cleaning: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Removed 27% anomalies from 541910 records(cancellations, zero-price items, missing IDs)</a:t>
            </a:r>
            <a:endParaRPr lang="en-US" sz="1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Engineering: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Calculated RFM metrics, handled outliers with IQR method</a:t>
            </a:r>
            <a:endParaRPr lang="en-US" sz="1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Modeling: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K-Means clustering (k=4), Random Forest tuning, model comparison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43509" y="1945442"/>
            <a:ext cx="1932190" cy="66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Challenges Overcome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95920" y="2256624"/>
            <a:ext cx="4994235" cy="56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clusters: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Added monetary threshold (&gt;£2000) to differentiate Elite vs Champions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95920" y="2908265"/>
            <a:ext cx="4994235" cy="72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overfitting: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Excluded recency from prediction to avoid data leakage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95920" y="3695924"/>
            <a:ext cx="4994235" cy="53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Imbalanced data: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Used class weighting and stratified sampling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212" y="4069845"/>
            <a:ext cx="9282351" cy="417695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938505" y="4298701"/>
            <a:ext cx="1624370" cy="251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EDA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3938505" y="4621121"/>
            <a:ext cx="1624370" cy="319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distributions and outliers</a:t>
            </a:r>
            <a:endParaRPr lang="en-US" sz="12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5255" y="5395792"/>
            <a:ext cx="359793" cy="3597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45024" y="7431415"/>
            <a:ext cx="1633295" cy="251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Cleaning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5545024" y="7753834"/>
            <a:ext cx="1633295" cy="319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anomalies and bad records</a:t>
            </a:r>
            <a:endParaRPr lang="en-US" sz="12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1775" y="6707783"/>
            <a:ext cx="359793" cy="3597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33694" y="4267463"/>
            <a:ext cx="1624369" cy="251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Modeling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7133694" y="4589883"/>
            <a:ext cx="1624369" cy="319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and validate predictive models</a:t>
            </a:r>
            <a:endParaRPr lang="en-US" sz="12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7219" y="5360092"/>
            <a:ext cx="359794" cy="35979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40213" y="7351507"/>
            <a:ext cx="1624370" cy="251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Results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8740213" y="7673926"/>
            <a:ext cx="1624370" cy="479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performance and insights</a:t>
            </a:r>
            <a:endParaRPr lang="en-US" sz="12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6964" y="6707783"/>
            <a:ext cx="359793" cy="35979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0920A9A-A6A1-12CB-D191-A5CC1FCC763B}"/>
              </a:ext>
            </a:extLst>
          </p:cNvPr>
          <p:cNvSpPr/>
          <p:nvPr/>
        </p:nvSpPr>
        <p:spPr>
          <a:xfrm>
            <a:off x="12848492" y="7690338"/>
            <a:ext cx="1781908" cy="539262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2769" y="311825"/>
            <a:ext cx="35634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 Results Comparison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82769" y="722114"/>
            <a:ext cx="13046591" cy="1728571"/>
          </a:xfrm>
          <a:prstGeom prst="roundRect">
            <a:avLst>
              <a:gd name="adj" fmla="val 161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 sz="3600"/>
          </a:p>
        </p:txBody>
      </p:sp>
      <p:sp>
        <p:nvSpPr>
          <p:cNvPr id="4" name="Text 2"/>
          <p:cNvSpPr/>
          <p:nvPr/>
        </p:nvSpPr>
        <p:spPr>
          <a:xfrm>
            <a:off x="1004094" y="866775"/>
            <a:ext cx="133147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b="1" u="sng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1600" u="sng" dirty="0"/>
          </a:p>
        </p:txBody>
      </p:sp>
      <p:sp>
        <p:nvSpPr>
          <p:cNvPr id="5" name="Text 3"/>
          <p:cNvSpPr/>
          <p:nvPr/>
        </p:nvSpPr>
        <p:spPr>
          <a:xfrm>
            <a:off x="7730212" y="889249"/>
            <a:ext cx="132766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AUC-ROC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292193" y="889249"/>
            <a:ext cx="132766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854174" y="889249"/>
            <a:ext cx="132766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416155" y="889249"/>
            <a:ext cx="133147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F1-Score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4094" y="1258608"/>
            <a:ext cx="133147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 Default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30212" y="1116063"/>
            <a:ext cx="132766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0.663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2193" y="1116063"/>
            <a:ext cx="132766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854174" y="1116063"/>
            <a:ext cx="132766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416155" y="1116063"/>
            <a:ext cx="133147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5665" y="1635480"/>
            <a:ext cx="133147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30212" y="1531308"/>
            <a:ext cx="132766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0.691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92193" y="1531308"/>
            <a:ext cx="132766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854174" y="1531308"/>
            <a:ext cx="132766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0.59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416155" y="1531308"/>
            <a:ext cx="133147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4094" y="2042163"/>
            <a:ext cx="3247866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Tuned Random Forest </a:t>
            </a: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30212" y="2040757"/>
            <a:ext cx="132766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0.697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92193" y="2040757"/>
            <a:ext cx="132766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854174" y="2040757"/>
            <a:ext cx="132766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416155" y="2040757"/>
            <a:ext cx="133147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2015" y="2787401"/>
            <a:ext cx="30610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Differences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62015" y="3480602"/>
            <a:ext cx="5233828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RF:</a:t>
            </a: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5% better AUC than default (0.697 vs 0.663)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XGBoost:</a:t>
            </a: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Good balance but lower recall (59% vs 70%)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Tuned RF:</a:t>
            </a: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Best at identifying churners (70% recall = catches 7/10)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8972" y="5451308"/>
            <a:ext cx="30610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Tuned RF Won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60019" y="6044556"/>
            <a:ext cx="5233828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 optimization (</a:t>
            </a:r>
            <a:r>
              <a:rPr lang="en-US" sz="160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n_estimators=50, max_depth=5</a:t>
            </a: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handling of imbalanced data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Superior recall for retention use case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18602" y="1945124"/>
            <a:ext cx="242375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6000E8-8D5A-2600-F1B8-84EB3E328A84}"/>
              </a:ext>
            </a:extLst>
          </p:cNvPr>
          <p:cNvSpPr/>
          <p:nvPr/>
        </p:nvSpPr>
        <p:spPr>
          <a:xfrm>
            <a:off x="12848492" y="7690338"/>
            <a:ext cx="1781908" cy="539262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405" y="2736699"/>
            <a:ext cx="8086376" cy="5372667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9E60C22-C92D-64FA-38C7-AF37444016D4}"/>
              </a:ext>
            </a:extLst>
          </p:cNvPr>
          <p:cNvCxnSpPr>
            <a:cxnSpLocks/>
          </p:cNvCxnSpPr>
          <p:nvPr/>
        </p:nvCxnSpPr>
        <p:spPr>
          <a:xfrm>
            <a:off x="460019" y="5356433"/>
            <a:ext cx="547342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956" y="630555"/>
            <a:ext cx="5628918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We Found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7956" y="1423511"/>
            <a:ext cx="405395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Customer Segments Identified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7956" y="2110502"/>
            <a:ext cx="13054489" cy="3256836"/>
          </a:xfrm>
          <a:prstGeom prst="roundRect">
            <a:avLst>
              <a:gd name="adj" fmla="val 103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0961" y="2259806"/>
            <a:ext cx="2153722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632597" y="2259806"/>
            <a:ext cx="2149912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240423" y="2259806"/>
            <a:ext cx="956786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655123" y="2259806"/>
            <a:ext cx="114454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257586" y="2259806"/>
            <a:ext cx="4352092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Characteristics</a:t>
            </a:r>
            <a:endParaRPr lang="en-US" sz="1750" b="1" dirty="0"/>
          </a:p>
        </p:txBody>
      </p:sp>
      <p:sp>
        <p:nvSpPr>
          <p:cNvPr id="10" name="Text 8"/>
          <p:cNvSpPr/>
          <p:nvPr/>
        </p:nvSpPr>
        <p:spPr>
          <a:xfrm>
            <a:off x="1020961" y="2909649"/>
            <a:ext cx="2153722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At-Risk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632597" y="2909649"/>
            <a:ext cx="2149912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386 (10%)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240423" y="2909649"/>
            <a:ext cx="956786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55123" y="2909649"/>
            <a:ext cx="114454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257586" y="2909649"/>
            <a:ext cx="4352092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R, Low F, Low M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20961" y="3559493"/>
            <a:ext cx="2153722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Elite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3632597" y="3559493"/>
            <a:ext cx="2149912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494 (13%)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240423" y="3559493"/>
            <a:ext cx="956786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655123" y="3559493"/>
            <a:ext cx="114454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46%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257586" y="3559493"/>
            <a:ext cx="4352092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R, High F, High M (&gt;£2k)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20961" y="4209336"/>
            <a:ext cx="2153722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Champions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3632597" y="4209336"/>
            <a:ext cx="2149912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959 (25%)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240423" y="4209336"/>
            <a:ext cx="956786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655123" y="4209336"/>
            <a:ext cx="114454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45%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257586" y="4209336"/>
            <a:ext cx="4352092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R, High F, High M (≤£2k)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020961" y="4859179"/>
            <a:ext cx="2153722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Promising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3632597" y="4859179"/>
            <a:ext cx="2149912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2,024 (52%)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6240423" y="4859179"/>
            <a:ext cx="956786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Nurture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655123" y="4859179"/>
            <a:ext cx="114454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9257586" y="4859179"/>
            <a:ext cx="4352092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R, Low F, Low M (new buyers)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787956" y="5731193"/>
            <a:ext cx="6387584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70%</a:t>
            </a:r>
            <a:endParaRPr lang="en-US" sz="5850" dirty="0"/>
          </a:p>
        </p:txBody>
      </p:sp>
      <p:sp>
        <p:nvSpPr>
          <p:cNvPr id="31" name="Text 29"/>
          <p:cNvSpPr/>
          <p:nvPr/>
        </p:nvSpPr>
        <p:spPr>
          <a:xfrm>
            <a:off x="2574488" y="6754177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 Performance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87956" y="7240072"/>
            <a:ext cx="6387584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AUC-ROC score - catches churners effectively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7454860" y="5731193"/>
            <a:ext cx="6387584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80x</a:t>
            </a:r>
            <a:endParaRPr lang="en-US" sz="5850" dirty="0"/>
          </a:p>
        </p:txBody>
      </p:sp>
      <p:sp>
        <p:nvSpPr>
          <p:cNvPr id="34" name="Text 32"/>
          <p:cNvSpPr/>
          <p:nvPr/>
        </p:nvSpPr>
        <p:spPr>
          <a:xfrm>
            <a:off x="9241393" y="6754177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Feature Importance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54860" y="7240072"/>
            <a:ext cx="6387584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Spending behavior matters 80x more than frequency</a:t>
            </a:r>
            <a:endParaRPr lang="en-US" sz="17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72C2E8-91BE-89A5-A256-C70707F71A5F}"/>
              </a:ext>
            </a:extLst>
          </p:cNvPr>
          <p:cNvSpPr/>
          <p:nvPr/>
        </p:nvSpPr>
        <p:spPr>
          <a:xfrm>
            <a:off x="12848492" y="7690338"/>
            <a:ext cx="1781908" cy="539262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468" y="444608"/>
            <a:ext cx="98795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Churn Prediction Model Performance</a:t>
            </a:r>
            <a:endParaRPr lang="en-US" sz="445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3875" y="1687397"/>
            <a:ext cx="7455806" cy="58265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85185" y="1791121"/>
            <a:ext cx="34108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785185" y="2372265"/>
            <a:ext cx="5058926" cy="1609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Model:</a:t>
            </a:r>
            <a:r>
              <a:rPr lang="en-US" sz="2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Tuned Random Forest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Performance:</a:t>
            </a:r>
            <a:r>
              <a:rPr lang="en-US" sz="2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AUC-ROC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Driver:</a:t>
            </a:r>
            <a:r>
              <a:rPr lang="en-US" sz="2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Monetary value 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Engineering:</a:t>
            </a:r>
            <a:r>
              <a:rPr lang="en-US" sz="2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RFM metrics</a:t>
            </a: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7D7077-2720-881F-B696-117F6DCC0FC2}"/>
              </a:ext>
            </a:extLst>
          </p:cNvPr>
          <p:cNvSpPr/>
          <p:nvPr/>
        </p:nvSpPr>
        <p:spPr>
          <a:xfrm>
            <a:off x="12848492" y="7690338"/>
            <a:ext cx="1781908" cy="539262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9003"/>
            <a:ext cx="75164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Business Recommendations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97944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82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At-Risk (Urgent)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3315176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Win-back campaigns with personalized offers. "We miss you!"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958828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4185642"/>
            <a:ext cx="37266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Elite &amp; Champions (Protect)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4676061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VIP rewards programs. Exclusive early access to products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319713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5546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Promising (Nurture)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6036945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Incentives for second purchase.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ED949B-FA35-6679-012F-7ED91C7CB536}"/>
              </a:ext>
            </a:extLst>
          </p:cNvPr>
          <p:cNvSpPr/>
          <p:nvPr/>
        </p:nvSpPr>
        <p:spPr>
          <a:xfrm>
            <a:off x="12848492" y="7690338"/>
            <a:ext cx="1781908" cy="539262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8928" y="965478"/>
            <a:ext cx="42603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393724" y="2014418"/>
            <a:ext cx="17040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425430" y="2369463"/>
            <a:ext cx="5677251" cy="3048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63930" y="2543770"/>
            <a:ext cx="53874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Segmented 3,863 customers into 4 actionable groups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93724" y="3294936"/>
            <a:ext cx="17040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367560" y="3649980"/>
            <a:ext cx="5677251" cy="3048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63930" y="3824288"/>
            <a:ext cx="42861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Built 70% effective churn prediction model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93724" y="4575453"/>
            <a:ext cx="17040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390708" y="4930497"/>
            <a:ext cx="5677251" cy="3048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63930" y="5104805"/>
            <a:ext cx="40015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Created roadmap for targeted retention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93724" y="5855970"/>
            <a:ext cx="17040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402281" y="6211014"/>
            <a:ext cx="5677251" cy="3048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63929" y="6385322"/>
            <a:ext cx="78592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Enabled proactive - not reactive - customer management</a:t>
            </a:r>
            <a:endParaRPr lang="en-US" sz="2200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EAAD3013-614B-916B-13CE-8825D7F15B8B}"/>
              </a:ext>
            </a:extLst>
          </p:cNvPr>
          <p:cNvSpPr/>
          <p:nvPr/>
        </p:nvSpPr>
        <p:spPr>
          <a:xfrm>
            <a:off x="631328" y="7093982"/>
            <a:ext cx="42603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826B6F-DD51-DCE9-375A-2509B65F5536}"/>
              </a:ext>
            </a:extLst>
          </p:cNvPr>
          <p:cNvSpPr/>
          <p:nvPr/>
        </p:nvSpPr>
        <p:spPr>
          <a:xfrm>
            <a:off x="12848492" y="7690338"/>
            <a:ext cx="1781908" cy="539262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71704962-8DAC-A1A3-8E4B-901FD9D0A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1053</Words>
  <Application>Microsoft Office PowerPoint</Application>
  <PresentationFormat>Custom</PresentationFormat>
  <Paragraphs>137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DM Sans Light</vt:lpstr>
      <vt:lpstr>Inter</vt:lpstr>
      <vt:lpstr>DM Sans Medium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Dhruv Manishbhai Thumar</cp:lastModifiedBy>
  <cp:revision>29</cp:revision>
  <dcterms:created xsi:type="dcterms:W3CDTF">2026-04-08T17:11:24Z</dcterms:created>
  <dcterms:modified xsi:type="dcterms:W3CDTF">2026-04-09T13:52:42Z</dcterms:modified>
</cp:coreProperties>
</file>